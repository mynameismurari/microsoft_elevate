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18-01-2026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1/18/2026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18/01/2026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9sEJclxSxFQ" TargetMode="External"/><Relationship Id="rId2" Type="http://schemas.openxmlformats.org/officeDocument/2006/relationships/hyperlink" Target="https://github.com/Mynameismurari/Microsoft_Elevate" TargetMode="External"/><Relationship Id="rId1" Type="http://schemas.openxmlformats.org/officeDocument/2006/relationships/slideLayout" Target="../slideLayouts/slideLayout3.xml"/><Relationship Id="rId4" Type="http://schemas.openxmlformats.org/officeDocument/2006/relationships/hyperlink" Target="https://www.linkedin.com/in/narayana-murari-4620952b7/"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8" y="1148869"/>
            <a:ext cx="5578621"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endParaRPr lang="en-US" sz="5100" b="1" dirty="0"/>
          </a:p>
          <a:p>
            <a:pPr algn="l"/>
            <a:r>
              <a:rPr lang="en-IN" sz="2800" b="1" dirty="0"/>
              <a:t>Sales Forecasting Dashboard</a:t>
            </a:r>
            <a:endParaRPr lang="en-US" sz="28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510829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Narayana Murari</a:t>
            </a:r>
          </a:p>
          <a:p>
            <a:pPr algn="l">
              <a:spcAft>
                <a:spcPts val="600"/>
              </a:spcAft>
            </a:pPr>
            <a:r>
              <a:rPr lang="en-US" sz="1600" b="1" cap="all" dirty="0"/>
              <a:t>College Name: </a:t>
            </a:r>
            <a:r>
              <a:rPr lang="en-US" sz="1600" b="1" cap="all" dirty="0" err="1"/>
              <a:t>malla</a:t>
            </a:r>
            <a:r>
              <a:rPr lang="en-US" sz="1600" b="1" cap="all" dirty="0"/>
              <a:t> </a:t>
            </a:r>
            <a:r>
              <a:rPr lang="en-US" sz="1600" b="1" cap="all" dirty="0" err="1"/>
              <a:t>reddy</a:t>
            </a:r>
            <a:r>
              <a:rPr lang="en-US" sz="1600" b="1" cap="all" dirty="0"/>
              <a:t> university</a:t>
            </a:r>
          </a:p>
          <a:p>
            <a:pPr algn="l">
              <a:spcAft>
                <a:spcPts val="600"/>
              </a:spcAft>
            </a:pPr>
            <a:r>
              <a:rPr lang="en-US" sz="1600" b="1" cap="all" dirty="0"/>
              <a:t>Department: </a:t>
            </a:r>
            <a:r>
              <a:rPr lang="en-US" sz="1600" b="1" cap="all" dirty="0" err="1"/>
              <a:t>Cse</a:t>
            </a:r>
            <a:endParaRPr lang="en-US" sz="1600" b="1" cap="all" dirty="0"/>
          </a:p>
          <a:p>
            <a:pPr algn="l">
              <a:spcAft>
                <a:spcPts val="600"/>
              </a:spcAft>
            </a:pPr>
            <a:r>
              <a:rPr lang="en-US" sz="1600" b="1" cap="all" dirty="0"/>
              <a:t>Email ID: murari.xc.16@gmail.com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2" name="Picture 11">
            <a:extLst>
              <a:ext uri="{FF2B5EF4-FFF2-40B4-BE49-F238E27FC236}">
                <a16:creationId xmlns:a16="http://schemas.microsoft.com/office/drawing/2014/main" id="{A904E037-E79F-62A0-9CD9-4168A7869A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40638" y="738227"/>
            <a:ext cx="4250073" cy="538091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1800" dirty="0">
                <a:latin typeface="+mj-lt"/>
              </a:rPr>
              <a:t>In today’s competitive market, businesses face the challenge of ensuring that products are available to customers at the right time and in the right quantity. Just as urban cities require a stable supply of rental bikes to meet hourly demand, sales teams must anticipate customer needs to minimize waiting time and avoid missed opportunities. The critical issue lies in predicting the required sales volume and inventory at each period to maintain a consistent supply. Without accurate forecasting, companies risk stockouts, overstocking, and dissatisfied customers, ultimately impacting revenue and brand trust. Therefore, developing a reliable system to predict sales demand and align it with inventory and distribution is essential for achieving stable and sustainable sales growth.</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5304838"/>
          </a:xfrm>
        </p:spPr>
        <p:txBody>
          <a:bodyPr vert="horz" lIns="91440" tIns="45720" rIns="91440" bIns="45720" rtlCol="0" anchor="t">
            <a:noAutofit/>
          </a:bodyPr>
          <a:lstStyle/>
          <a:p>
            <a:pPr marL="0" indent="0">
              <a:buNone/>
            </a:pPr>
            <a:r>
              <a:rPr lang="en-US" sz="1400" dirty="0"/>
              <a:t>Data Collection</a:t>
            </a:r>
          </a:p>
          <a:p>
            <a:r>
              <a:rPr lang="en-US" sz="1400" dirty="0"/>
              <a:t>Integrate historical sales data from ERP, CRM, or POS systems.</a:t>
            </a:r>
          </a:p>
          <a:p>
            <a:r>
              <a:rPr lang="en-US" sz="1400" dirty="0"/>
              <a:t>Connect external data sources such as promotional campaigns, competitor activity, seasonal trends, and economic indicators.</a:t>
            </a:r>
          </a:p>
          <a:p>
            <a:pPr marL="0" indent="0">
              <a:buNone/>
            </a:pPr>
            <a:r>
              <a:rPr lang="en-US" sz="1400" dirty="0"/>
              <a:t>Data Preprocessing</a:t>
            </a:r>
          </a:p>
          <a:p>
            <a:r>
              <a:rPr lang="en-US" sz="1400" dirty="0"/>
              <a:t>Use Power Query in Power BI to clean and transform raw data, handling missing values, duplicates, and inconsistencies.</a:t>
            </a:r>
          </a:p>
          <a:p>
            <a:r>
              <a:rPr lang="en-US" sz="1400" dirty="0"/>
              <a:t>Apply calculated columns and measures (DAX) for feature engineering, such as sales per region, promotion impact, or seasonal demand factors.</a:t>
            </a:r>
          </a:p>
          <a:p>
            <a:pPr marL="0" indent="0">
              <a:buNone/>
            </a:pPr>
            <a:r>
              <a:rPr lang="en-US" sz="1400" dirty="0"/>
              <a:t>Predictive Analytics</a:t>
            </a:r>
          </a:p>
          <a:p>
            <a:r>
              <a:rPr lang="en-US" sz="1400" dirty="0"/>
              <a:t>Integrate machine learning models into Power BI for demand forecasting.</a:t>
            </a:r>
          </a:p>
          <a:p>
            <a:r>
              <a:rPr lang="en-US" sz="1400" dirty="0"/>
              <a:t>Use time-series forecasting visuals to predict future sales trends.</a:t>
            </a:r>
          </a:p>
          <a:p>
            <a:pPr marL="0" indent="0">
              <a:buNone/>
            </a:pPr>
            <a:r>
              <a:rPr lang="en-US" sz="1400" dirty="0"/>
              <a:t>Visualization &amp; Reporting</a:t>
            </a:r>
          </a:p>
          <a:p>
            <a:r>
              <a:rPr lang="en-US" sz="1400" dirty="0"/>
              <a:t>Build interactive dashboards showing:</a:t>
            </a:r>
          </a:p>
          <a:p>
            <a:pPr lvl="1"/>
            <a:r>
              <a:rPr lang="en-US" sz="1400" dirty="0"/>
              <a:t>Hourly/daily/weekly sales forecasts</a:t>
            </a:r>
          </a:p>
          <a:p>
            <a:pPr lvl="1"/>
            <a:r>
              <a:rPr lang="en-US" sz="1400" dirty="0"/>
              <a:t>Regional and product-level performance</a:t>
            </a:r>
          </a:p>
          <a:p>
            <a:pPr marL="0" indent="0">
              <a:buNone/>
            </a:pPr>
            <a:r>
              <a:rPr lang="en-US" sz="1400" dirty="0"/>
              <a:t>Result</a:t>
            </a:r>
          </a:p>
          <a:p>
            <a:r>
              <a:rPr lang="en-US" sz="1400" dirty="0"/>
              <a:t>The system will empower businesses with real-time, data-driven sales insights, enabling proactive decision-making, reduced stockouts/overstocking, optimized marketing strategies, and sustained revenue growth.</a:t>
            </a:r>
          </a:p>
          <a:p>
            <a:pPr marL="457200" lvl="1" indent="0">
              <a:buNone/>
            </a:pPr>
            <a:endParaRPr lang="en-US" sz="1400" dirty="0"/>
          </a:p>
          <a:p>
            <a:endParaRPr lang="en-US" sz="1400" dirty="0"/>
          </a:p>
          <a:p>
            <a:endParaRPr lang="en-US" sz="1400" dirty="0"/>
          </a:p>
          <a:p>
            <a:endParaRPr lang="en-US" sz="1400" dirty="0"/>
          </a:p>
          <a:p>
            <a:pPr marL="0" indent="0">
              <a:buNone/>
            </a:pPr>
            <a:endParaRPr lang="en-US" sz="14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IN" sz="2200" b="1" dirty="0" err="1">
                <a:latin typeface="Franklin Gothic Book"/>
              </a:rPr>
              <a:t>PowerBI</a:t>
            </a:r>
            <a:endParaRPr lang="en-US" sz="2200" dirty="0">
              <a:latin typeface="Franklin Gothic Book"/>
            </a:endParaRPr>
          </a:p>
          <a:p>
            <a:pPr marL="305435" indent="-305435">
              <a:spcBef>
                <a:spcPct val="20000"/>
              </a:spcBef>
              <a:spcAft>
                <a:spcPts val="600"/>
              </a:spcAft>
              <a:buFont typeface="Arial"/>
              <a:buChar char="•"/>
            </a:pPr>
            <a:r>
              <a:rPr lang="en-IN" sz="2200" b="1" dirty="0">
                <a:latin typeface="Franklin Gothic Book"/>
              </a:rPr>
              <a:t>DAX formulas:</a:t>
            </a:r>
          </a:p>
          <a:p>
            <a:pPr marL="457200" indent="-457200">
              <a:spcBef>
                <a:spcPct val="20000"/>
              </a:spcBef>
              <a:spcAft>
                <a:spcPts val="600"/>
              </a:spcAft>
              <a:buFont typeface="+mj-lt"/>
              <a:buAutoNum type="arabicPeriod"/>
            </a:pPr>
            <a:r>
              <a:rPr lang="en-IN" sz="2000" dirty="0" err="1"/>
              <a:t>AvgDelivey</a:t>
            </a:r>
            <a:r>
              <a:rPr lang="en-IN" sz="2000" dirty="0"/>
              <a:t> = DATEDIFF('</a:t>
            </a:r>
            <a:r>
              <a:rPr lang="en-IN" sz="2000" dirty="0" err="1"/>
              <a:t>SuperStore_Sales_Dataset</a:t>
            </a:r>
            <a:r>
              <a:rPr lang="en-IN" sz="2000" dirty="0"/>
              <a:t>'[Order Date], '</a:t>
            </a:r>
            <a:r>
              <a:rPr lang="en-IN" sz="2000" dirty="0" err="1"/>
              <a:t>SuperStore_Sales_Dataset</a:t>
            </a:r>
            <a:r>
              <a:rPr lang="en-IN" sz="2000" dirty="0"/>
              <a:t>'[Ship Date],DAY)</a:t>
            </a:r>
          </a:p>
          <a:p>
            <a:pPr marL="457200" indent="-457200">
              <a:spcBef>
                <a:spcPct val="20000"/>
              </a:spcBef>
              <a:spcAft>
                <a:spcPts val="600"/>
              </a:spcAft>
              <a:buFont typeface="+mj-lt"/>
              <a:buAutoNum type="arabicPeriod"/>
            </a:pPr>
            <a:r>
              <a:rPr lang="en-IN" sz="2000" dirty="0" err="1"/>
              <a:t>SalesForecast</a:t>
            </a:r>
            <a:r>
              <a:rPr lang="en-IN" sz="2000" dirty="0"/>
              <a:t> = SUMMARIZE('</a:t>
            </a:r>
            <a:r>
              <a:rPr lang="en-IN" sz="2000" dirty="0" err="1"/>
              <a:t>SuperStore_Sales_Dataset</a:t>
            </a:r>
            <a:r>
              <a:rPr lang="en-IN" sz="2000" dirty="0"/>
              <a:t>', '</a:t>
            </a:r>
            <a:r>
              <a:rPr lang="en-IN" sz="2000" dirty="0" err="1"/>
              <a:t>SuperStore_Sales_Dataset</a:t>
            </a:r>
            <a:r>
              <a:rPr lang="en-IN" sz="2000" dirty="0"/>
              <a:t>'[Order Date], "Total Sales", SUM(</a:t>
            </a:r>
            <a:r>
              <a:rPr lang="en-IN" sz="2000" dirty="0" err="1"/>
              <a:t>SuperStore_Sales_Dataset</a:t>
            </a:r>
            <a:r>
              <a:rPr lang="en-IN" sz="2000" dirty="0"/>
              <a:t>[Sales]))</a:t>
            </a:r>
          </a:p>
          <a:p>
            <a:pPr marL="457200" indent="-457200">
              <a:spcBef>
                <a:spcPct val="20000"/>
              </a:spcBef>
              <a:spcAft>
                <a:spcPts val="600"/>
              </a:spcAft>
              <a:buFont typeface="+mj-lt"/>
              <a:buAutoNum type="arabicPeriod"/>
            </a:pPr>
            <a:endParaRPr lang="en-IN" sz="2000" dirty="0"/>
          </a:p>
          <a:p>
            <a:pPr marL="0" indent="0">
              <a:spcBef>
                <a:spcPct val="20000"/>
              </a:spcBef>
              <a:spcAft>
                <a:spcPts val="600"/>
              </a:spcAft>
              <a:buNone/>
            </a:pPr>
            <a:endParaRPr lang="en-IN" sz="2000" dirty="0"/>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0" indent="0">
              <a:buNone/>
            </a:pPr>
            <a:r>
              <a:rPr lang="en-US" sz="1600" dirty="0"/>
              <a:t>Algorithm Selection</a:t>
            </a:r>
          </a:p>
          <a:p>
            <a:r>
              <a:rPr lang="en-US" sz="1600" dirty="0"/>
              <a:t>A time-series forecasting model is chosen to predict future sales trends. This is suitable because sales data often shows seasonality, promotions, and regional variations.</a:t>
            </a:r>
          </a:p>
          <a:p>
            <a:pPr marL="0" indent="0">
              <a:buNone/>
            </a:pPr>
            <a:r>
              <a:rPr lang="en-US" sz="1600" dirty="0"/>
              <a:t>Data Input</a:t>
            </a:r>
          </a:p>
          <a:p>
            <a:r>
              <a:rPr lang="en-US" sz="1600" dirty="0"/>
              <a:t>Historical sales records, product categories, regions, seasonal factors and external indicators like competitor activity or economic trends.</a:t>
            </a:r>
          </a:p>
          <a:p>
            <a:pPr marL="0" indent="0">
              <a:buNone/>
            </a:pPr>
            <a:r>
              <a:rPr lang="en-US" sz="1600" dirty="0"/>
              <a:t>Training Process</a:t>
            </a:r>
          </a:p>
          <a:p>
            <a:r>
              <a:rPr lang="en-US" sz="1600" dirty="0"/>
              <a:t>The model is trained on cleaned historical data using Power Query and DAX in Power BI. Cross-validation and parameter tuning are applied to improve accuracy.</a:t>
            </a:r>
          </a:p>
          <a:p>
            <a:pPr marL="0" indent="0">
              <a:buNone/>
            </a:pPr>
            <a:r>
              <a:rPr lang="en-US" sz="1600" dirty="0"/>
              <a:t>Prediction Process</a:t>
            </a:r>
          </a:p>
          <a:p>
            <a:r>
              <a:rPr lang="en-US" sz="1600" dirty="0"/>
              <a:t>The trained model generates forecasts visualized in Power BI dashboards. Real-time inputs such as ongoing promotions or live transactions are incorporated to update predictions dynamically.</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9" name="Content Placeholder 8">
            <a:extLst>
              <a:ext uri="{FF2B5EF4-FFF2-40B4-BE49-F238E27FC236}">
                <a16:creationId xmlns:a16="http://schemas.microsoft.com/office/drawing/2014/main" id="{701E39FB-E601-7A89-77CF-3909DB1D6497}"/>
              </a:ext>
            </a:extLst>
          </p:cNvPr>
          <p:cNvPicPr>
            <a:picLocks noGrp="1" noChangeAspect="1"/>
          </p:cNvPicPr>
          <p:nvPr>
            <p:ph idx="1"/>
          </p:nvPr>
        </p:nvPicPr>
        <p:blipFill>
          <a:blip r:embed="rId2"/>
          <a:stretch>
            <a:fillRect/>
          </a:stretch>
        </p:blipFill>
        <p:spPr/>
      </p:pic>
      <p:pic>
        <p:nvPicPr>
          <p:cNvPr id="11" name="Picture 10">
            <a:extLst>
              <a:ext uri="{FF2B5EF4-FFF2-40B4-BE49-F238E27FC236}">
                <a16:creationId xmlns:a16="http://schemas.microsoft.com/office/drawing/2014/main" id="{6B1A4FB8-DF4D-B6C9-D623-1CE35C5545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492" y="1288170"/>
            <a:ext cx="9444940" cy="5142940"/>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F847D-B0F3-9E3C-EE8E-48E8B03B7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DF5B9-051F-D34F-43A8-FE1A215E7B08}"/>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9" name="Content Placeholder 8">
            <a:extLst>
              <a:ext uri="{FF2B5EF4-FFF2-40B4-BE49-F238E27FC236}">
                <a16:creationId xmlns:a16="http://schemas.microsoft.com/office/drawing/2014/main" id="{947C4457-FB00-2F90-D43D-9426012D9987}"/>
              </a:ext>
            </a:extLst>
          </p:cNvPr>
          <p:cNvPicPr>
            <a:picLocks noGrp="1" noChangeAspect="1"/>
          </p:cNvPicPr>
          <p:nvPr>
            <p:ph idx="1"/>
          </p:nvPr>
        </p:nvPicPr>
        <p:blipFill>
          <a:blip r:embed="rId2"/>
          <a:stretch>
            <a:fillRect/>
          </a:stretch>
        </p:blipFill>
        <p:spPr/>
      </p:pic>
      <p:pic>
        <p:nvPicPr>
          <p:cNvPr id="4" name="Picture 3">
            <a:extLst>
              <a:ext uri="{FF2B5EF4-FFF2-40B4-BE49-F238E27FC236}">
                <a16:creationId xmlns:a16="http://schemas.microsoft.com/office/drawing/2014/main" id="{F6727D44-7F49-FA24-F4CF-B49CA80BE0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5069" y="1158227"/>
            <a:ext cx="9881862" cy="5425509"/>
          </a:xfrm>
          <a:prstGeom prst="rect">
            <a:avLst/>
          </a:prstGeom>
        </p:spPr>
      </p:pic>
    </p:spTree>
    <p:extLst>
      <p:ext uri="{BB962C8B-B14F-4D97-AF65-F5344CB8AC3E}">
        <p14:creationId xmlns:p14="http://schemas.microsoft.com/office/powerpoint/2010/main" val="46365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CBC0-90E3-7D2F-BE67-FF521B4AA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C2B24-E753-EEAC-7012-956591B9530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9" name="Content Placeholder 8">
            <a:extLst>
              <a:ext uri="{FF2B5EF4-FFF2-40B4-BE49-F238E27FC236}">
                <a16:creationId xmlns:a16="http://schemas.microsoft.com/office/drawing/2014/main" id="{1C6F4A3C-B5B2-B670-763A-D275668119F4}"/>
              </a:ext>
            </a:extLst>
          </p:cNvPr>
          <p:cNvPicPr>
            <a:picLocks noGrp="1" noChangeAspect="1"/>
          </p:cNvPicPr>
          <p:nvPr>
            <p:ph idx="1"/>
          </p:nvPr>
        </p:nvPicPr>
        <p:blipFill>
          <a:blip r:embed="rId2"/>
          <a:stretch>
            <a:fillRect/>
          </a:stretch>
        </p:blipFill>
        <p:spPr/>
      </p:pic>
      <p:pic>
        <p:nvPicPr>
          <p:cNvPr id="4" name="Picture 3">
            <a:extLst>
              <a:ext uri="{FF2B5EF4-FFF2-40B4-BE49-F238E27FC236}">
                <a16:creationId xmlns:a16="http://schemas.microsoft.com/office/drawing/2014/main" id="{ACA76472-C175-DD5A-FEAD-DCBDCE551E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3715" y="1151680"/>
            <a:ext cx="10144569" cy="5573211"/>
          </a:xfrm>
          <a:prstGeom prst="rect">
            <a:avLst/>
          </a:prstGeom>
        </p:spPr>
      </p:pic>
    </p:spTree>
    <p:extLst>
      <p:ext uri="{BB962C8B-B14F-4D97-AF65-F5344CB8AC3E}">
        <p14:creationId xmlns:p14="http://schemas.microsoft.com/office/powerpoint/2010/main" val="3618097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9561F-BBDC-E8C9-D559-11FE26CD6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4FF34-F85A-0831-044F-EDEAF792D59D}"/>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9" name="Content Placeholder 8">
            <a:extLst>
              <a:ext uri="{FF2B5EF4-FFF2-40B4-BE49-F238E27FC236}">
                <a16:creationId xmlns:a16="http://schemas.microsoft.com/office/drawing/2014/main" id="{E8538A30-38A4-AEEE-C951-F30DCF658C6A}"/>
              </a:ext>
            </a:extLst>
          </p:cNvPr>
          <p:cNvPicPr>
            <a:picLocks noGrp="1" noChangeAspect="1"/>
          </p:cNvPicPr>
          <p:nvPr>
            <p:ph idx="1"/>
          </p:nvPr>
        </p:nvPicPr>
        <p:blipFill>
          <a:blip r:embed="rId2"/>
          <a:stretch>
            <a:fillRect/>
          </a:stretch>
        </p:blipFill>
        <p:spPr/>
      </p:pic>
      <p:pic>
        <p:nvPicPr>
          <p:cNvPr id="4" name="Picture 3">
            <a:extLst>
              <a:ext uri="{FF2B5EF4-FFF2-40B4-BE49-F238E27FC236}">
                <a16:creationId xmlns:a16="http://schemas.microsoft.com/office/drawing/2014/main" id="{16DF06C0-F9EA-CC42-877B-F5EF1E7458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9776" y="1192192"/>
            <a:ext cx="9848771" cy="5539933"/>
          </a:xfrm>
          <a:prstGeom prst="rect">
            <a:avLst/>
          </a:prstGeom>
        </p:spPr>
      </p:pic>
    </p:spTree>
    <p:extLst>
      <p:ext uri="{BB962C8B-B14F-4D97-AF65-F5344CB8AC3E}">
        <p14:creationId xmlns:p14="http://schemas.microsoft.com/office/powerpoint/2010/main" val="1430107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000" dirty="0"/>
              <a:t>The Power BI sales forecasting dashboard provides accurate, real-time insights into future demand, helping businesses optimize inventory and marketing strategies. While challenges such as data quality and model tuning were encountered, the solution proved effective in reducing stockouts and overstocking. Continuous refinement and integration with advanced models can further improve accuracy, making the dashboard a valuable tool for driving sustainable sales growth.</a:t>
            </a:r>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r>
              <a:rPr lang="en-US" sz="2400" dirty="0"/>
              <a:t>The dashboard can be enhanced by adding more data sources like customer behavior and competitor trends, optimizing forecasting models with advanced machine learning, and expanding coverage across multiple regions or product lines. Integration with emerging technologies such as edge computing and AI-driven anomaly detection will further improve accuracy and scalability.</a:t>
            </a:r>
            <a:r>
              <a:rPr lang="en-US" sz="2200" dirty="0">
                <a:latin typeface="Franklin Gothic Book"/>
              </a:rPr>
              <a:t>.</a:t>
            </a:r>
            <a:endParaRPr lang="en-GB" sz="2200" dirty="0"/>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GitHub Link:</a:t>
            </a:r>
            <a:r>
              <a:rPr lang="en-IN" sz="2200" dirty="0">
                <a:solidFill>
                  <a:srgbClr val="0070C0"/>
                </a:solidFill>
                <a:latin typeface="Franklin Gothic Book"/>
              </a:rPr>
              <a:t> </a:t>
            </a:r>
            <a:r>
              <a:rPr lang="en-IN" sz="2200" u="sng" dirty="0">
                <a:solidFill>
                  <a:srgbClr val="0070C0"/>
                </a:solidFill>
                <a:latin typeface="Franklin Gothic Book"/>
                <a:hlinkClick r:id="rId2"/>
              </a:rPr>
              <a:t>Link</a:t>
            </a:r>
            <a:endParaRPr lang="en-IN" sz="2200" u="sng" dirty="0">
              <a:solidFill>
                <a:srgbClr val="0070C0"/>
              </a:solidFill>
              <a:latin typeface="Franklin Gothic Book"/>
            </a:endParaRPr>
          </a:p>
          <a:p>
            <a:pPr marL="0" indent="0">
              <a:buNone/>
            </a:pPr>
            <a:r>
              <a:rPr lang="en-IN" sz="2200" dirty="0" err="1">
                <a:latin typeface="Franklin Gothic Book"/>
              </a:rPr>
              <a:t>Youtube</a:t>
            </a:r>
            <a:r>
              <a:rPr lang="en-IN" sz="2200" dirty="0">
                <a:latin typeface="Franklin Gothic Book"/>
              </a:rPr>
              <a:t> Link: </a:t>
            </a:r>
            <a:r>
              <a:rPr lang="en-IN" sz="2200" dirty="0">
                <a:latin typeface="Franklin Gothic Book"/>
                <a:hlinkClick r:id="rId3"/>
              </a:rPr>
              <a:t>Link</a:t>
            </a:r>
            <a:endParaRPr lang="en-IN" sz="2200" dirty="0">
              <a:latin typeface="Franklin Gothic Book"/>
            </a:endParaRPr>
          </a:p>
          <a:p>
            <a:pPr marL="0" indent="0">
              <a:buNone/>
            </a:pPr>
            <a:r>
              <a:rPr lang="en-IN" sz="2200" dirty="0">
                <a:latin typeface="Franklin Gothic Book"/>
              </a:rPr>
              <a:t>LinkedIn Link: </a:t>
            </a:r>
            <a:r>
              <a:rPr lang="en-IN" sz="2200" dirty="0">
                <a:latin typeface="Franklin Gothic Book"/>
                <a:hlinkClick r:id="rId4"/>
              </a:rPr>
              <a:t>Link</a:t>
            </a:r>
            <a:endParaRPr lang="en-IN" sz="2200" dirty="0">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679</Words>
  <Application>Microsoft Office PowerPoint</Application>
  <PresentationFormat>Widescreen</PresentationFormat>
  <Paragraphs>69</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murari narayana</cp:lastModifiedBy>
  <cp:revision>107</cp:revision>
  <dcterms:created xsi:type="dcterms:W3CDTF">2024-05-21T11:55:07Z</dcterms:created>
  <dcterms:modified xsi:type="dcterms:W3CDTF">2026-01-18T07:22:15Z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